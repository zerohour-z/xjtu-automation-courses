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60" r:id="rId4"/>
    <p:sldId id="259" r:id="rId6"/>
    <p:sldId id="25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5D26F-6DD8-486B-8D6C-B712C33D39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9142FB-028E-46F6-A779-1DF982BCE36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9142FB-028E-46F6-A779-1DF982BCE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4C781-66EE-442A-91A4-7B7CCA1FC0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EEE5-C2F0-4987-95DF-423D126040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4C781-66EE-442A-91A4-7B7CCA1FC0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EEE5-C2F0-4987-95DF-423D126040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4C781-66EE-442A-91A4-7B7CCA1FC0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EEE5-C2F0-4987-95DF-423D126040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4C781-66EE-442A-91A4-7B7CCA1FC0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EEE5-C2F0-4987-95DF-423D126040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4C781-66EE-442A-91A4-7B7CCA1FC0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EEE5-C2F0-4987-95DF-423D126040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4C781-66EE-442A-91A4-7B7CCA1FC0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EEE5-C2F0-4987-95DF-423D126040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4C781-66EE-442A-91A4-7B7CCA1FC0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EEE5-C2F0-4987-95DF-423D126040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4C781-66EE-442A-91A4-7B7CCA1FC0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EEE5-C2F0-4987-95DF-423D126040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4C781-66EE-442A-91A4-7B7CCA1FC0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EEE5-C2F0-4987-95DF-423D126040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4C781-66EE-442A-91A4-7B7CCA1FC0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EEE5-C2F0-4987-95DF-423D126040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4C781-66EE-442A-91A4-7B7CCA1FC0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EEE5-C2F0-4987-95DF-423D126040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 hasCustomPrompt="1"/>
          </p:nvPr>
        </p:nvSpPr>
        <p:spPr>
          <a:xfrm>
            <a:off x="1190625" y="1151930"/>
            <a:ext cx="9810750" cy="2321719"/>
          </a:xfrm>
          <a:prstGeom prst="rect">
            <a:avLst/>
          </a:prstGeom>
        </p:spPr>
        <p:txBody>
          <a:bodyPr anchor="b"/>
          <a:lstStyle/>
          <a:p>
            <a:pPr lvl="0">
              <a:defRPr sz="1800"/>
            </a:pPr>
            <a:r>
              <a:rPr sz="5625"/>
              <a:t>标题文本</a:t>
            </a:r>
            <a:endParaRPr sz="5625"/>
          </a:p>
        </p:txBody>
      </p:sp>
      <p:sp>
        <p:nvSpPr>
          <p:cNvPr id="6" name="Shape 6"/>
          <p:cNvSpPr>
            <a:spLocks noGrp="1"/>
          </p:cNvSpPr>
          <p:nvPr>
            <p:ph type="body" idx="1" hasCustomPrompt="1"/>
          </p:nvPr>
        </p:nvSpPr>
        <p:spPr>
          <a:xfrm>
            <a:off x="1190625" y="3536156"/>
            <a:ext cx="9810750" cy="7947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50"/>
            </a:lvl1pPr>
            <a:lvl2pPr marL="0" indent="160655" algn="ctr">
              <a:spcBef>
                <a:spcPts val="0"/>
              </a:spcBef>
              <a:buSzTx/>
              <a:buNone/>
              <a:defRPr sz="2250"/>
            </a:lvl2pPr>
            <a:lvl3pPr marL="0" indent="321310" algn="ctr">
              <a:spcBef>
                <a:spcPts val="0"/>
              </a:spcBef>
              <a:buSzTx/>
              <a:buNone/>
              <a:defRPr sz="2250"/>
            </a:lvl3pPr>
            <a:lvl4pPr marL="0" indent="481965" algn="ctr">
              <a:spcBef>
                <a:spcPts val="0"/>
              </a:spcBef>
              <a:buSzTx/>
              <a:buNone/>
              <a:defRPr sz="2250"/>
            </a:lvl4pPr>
            <a:lvl5pPr marL="0" indent="642620" algn="ctr">
              <a:spcBef>
                <a:spcPts val="0"/>
              </a:spcBef>
              <a:buSzTx/>
              <a:buNone/>
              <a:defRPr sz="2250"/>
            </a:lvl5pPr>
          </a:lstStyle>
          <a:p>
            <a:pPr lvl="0">
              <a:defRPr sz="1800"/>
            </a:pPr>
            <a:r>
              <a:rPr sz="2250"/>
              <a:t>正文级别 1</a:t>
            </a:r>
            <a:endParaRPr sz="2250"/>
          </a:p>
          <a:p>
            <a:pPr lvl="1">
              <a:defRPr sz="1800"/>
            </a:pPr>
            <a:r>
              <a:rPr sz="2250"/>
              <a:t>正文级别 2</a:t>
            </a:r>
            <a:endParaRPr sz="2250"/>
          </a:p>
          <a:p>
            <a:pPr lvl="2">
              <a:defRPr sz="1800"/>
            </a:pPr>
            <a:r>
              <a:rPr sz="2250"/>
              <a:t>正文级别 3</a:t>
            </a:r>
            <a:endParaRPr sz="2250"/>
          </a:p>
          <a:p>
            <a:pPr lvl="3">
              <a:defRPr sz="1800"/>
            </a:pPr>
            <a:r>
              <a:rPr sz="2250"/>
              <a:t>正文级别 4</a:t>
            </a:r>
            <a:endParaRPr sz="2250"/>
          </a:p>
          <a:p>
            <a:pPr lvl="4">
              <a:defRPr sz="1800"/>
            </a:pPr>
            <a:r>
              <a:rPr sz="2250"/>
              <a:t>正文级别 5</a:t>
            </a:r>
            <a:endParaRPr sz="225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4C781-66EE-442A-91A4-7B7CCA1FC0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1EEE5-C2F0-4987-95DF-423D126040F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hyperlink" Target="https://github.com/chairc/Integrated-Design-Diffusion-Model/tree/main?tab=readme-ov-file" TargetMode="External"/><Relationship Id="rId3" Type="http://schemas.openxmlformats.org/officeDocument/2006/relationships/hyperlink" Target="https://blog.csdn.net/fengzhuqiaoqiu/article/details/138017211" TargetMode="External"/><Relationship Id="rId2" Type="http://schemas.openxmlformats.org/officeDocument/2006/relationships/hyperlink" Target="https://www.cs.toronto.edu/~kriz/cifar.html" TargetMode="Externa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32"/>
          <p:cNvSpPr txBox="1"/>
          <p:nvPr/>
        </p:nvSpPr>
        <p:spPr>
          <a:xfrm>
            <a:off x="2557195" y="295763"/>
            <a:ext cx="7358063" cy="9484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1800"/>
            </a:pPr>
            <a:r>
              <a:rPr lang="en-US" sz="3795" b="1" dirty="0">
                <a:latin typeface="Helvetica"/>
                <a:ea typeface="Helvetica"/>
                <a:cs typeface="Helvetica"/>
                <a:sym typeface="Helvetica"/>
              </a:rPr>
              <a:t>Big Assignment </a:t>
            </a:r>
            <a:r>
              <a:rPr lang="en-US" altLang="zh-CN" sz="3095" dirty="0"/>
              <a:t>—</a:t>
            </a:r>
            <a:endParaRPr lang="en-US" sz="3095" b="1" dirty="0">
              <a:latin typeface="Helvetica"/>
              <a:ea typeface="Helvetica"/>
              <a:cs typeface="Helvetica"/>
              <a:sym typeface="Helvetica"/>
            </a:endParaRPr>
          </a:p>
          <a:p>
            <a:pPr>
              <a:defRPr sz="1800"/>
            </a:pPr>
            <a:r>
              <a:rPr lang="en-US" sz="2250" b="1" dirty="0">
                <a:latin typeface="Helvetica"/>
                <a:ea typeface="Helvetica"/>
                <a:cs typeface="Helvetica"/>
                <a:sym typeface="Helvetica"/>
              </a:rPr>
              <a:t>Image Generation(</a:t>
            </a:r>
            <a:r>
              <a:rPr lang="zh-CN" altLang="en-US" sz="2250" b="1" dirty="0">
                <a:latin typeface="Helvetica"/>
                <a:ea typeface="Helvetica"/>
                <a:cs typeface="Helvetica"/>
                <a:sym typeface="Helvetica"/>
              </a:rPr>
              <a:t>图像生成</a:t>
            </a:r>
            <a:r>
              <a:rPr lang="en-US" altLang="zh-CN" sz="2250" b="1" dirty="0">
                <a:latin typeface="Helvetica"/>
                <a:ea typeface="Helvetica"/>
                <a:cs typeface="Helvetica"/>
                <a:sym typeface="Helvetica"/>
              </a:rPr>
              <a:t>)</a:t>
            </a:r>
            <a:endParaRPr lang="en-US" altLang="zh-CN" sz="2250" b="1" dirty="0"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5" name="Shape 34"/>
          <p:cNvSpPr/>
          <p:nvPr/>
        </p:nvSpPr>
        <p:spPr>
          <a:xfrm>
            <a:off x="2416968" y="1244254"/>
            <a:ext cx="8598790" cy="260314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marL="241300" indent="-241300" defTabSz="279400">
              <a:buFont typeface="Wingdings" panose="05000000000000000000" pitchFamily="2" charset="2"/>
              <a:buChar char="u"/>
              <a:defRPr sz="1800"/>
            </a:pPr>
            <a:r>
              <a:rPr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Task: 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/>
              <a:sym typeface="Helvetica"/>
            </a:endParaRPr>
          </a:p>
          <a:p>
            <a:pPr defTabSz="279400">
              <a:defRPr sz="1800"/>
            </a:pPr>
            <a:r>
              <a:rPr 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     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构建一个图像生成模型（可参考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Ref. 1-4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中的模型）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Helvetica"/>
              <a:sym typeface="Helvetica"/>
            </a:endParaRPr>
          </a:p>
          <a:p>
            <a:pPr defTabSz="279400">
              <a:defRPr sz="1800"/>
            </a:pP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  <a:sym typeface="Helvetica"/>
            </a:endParaRPr>
          </a:p>
          <a:p>
            <a:pPr marL="436245" indent="-120650" defTabSz="279400">
              <a:buFont typeface="Arial" panose="020B0604020202090204" pitchFamily="34" charset="0"/>
              <a:buChar char="•"/>
              <a:defRPr sz="1800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cifar-10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数据集实现图像生成；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6245" indent="-120650" defTabSz="279400">
              <a:buFont typeface="Arial" panose="020B0604020202090204" pitchFamily="34" charset="0"/>
              <a:buChar char="•"/>
              <a:defRPr sz="1800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785" indent="-122555" defTabSz="279400">
              <a:buFont typeface="Arial" panose="020B0604020202090204" pitchFamily="34" charset="0"/>
              <a:buChar char="•"/>
              <a:defRPr sz="1800"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计算生成图像与数据集图像的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FID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分数（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Ref. 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）。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785" indent="-122555" defTabSz="279400">
              <a:buFont typeface="Arial" panose="020B0604020202090204" pitchFamily="34" charset="0"/>
              <a:buChar char="•"/>
              <a:defRPr sz="1800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785" indent="-122555" defTabSz="279400">
              <a:buFont typeface="Arial" panose="020B0604020202090204" pitchFamily="34" charset="0"/>
              <a:buChar char="•"/>
              <a:defRPr sz="1800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加分项：在自定义数据集构建图像生成模型，在更多数据集上进行实验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785" indent="-122555" defTabSz="279400">
              <a:buFont typeface="Arial" panose="020B0604020202090204" pitchFamily="34" charset="0"/>
              <a:buChar char="•"/>
              <a:defRPr sz="1800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16968" y="3789727"/>
            <a:ext cx="7958932" cy="2603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15595" defTabSz="279400">
              <a:defRPr sz="1800"/>
            </a:pPr>
            <a:endParaRPr lang="en-US" altLang="zh-CN" sz="1265" dirty="0"/>
          </a:p>
          <a:p>
            <a:pPr marL="241300" indent="-241300" defTabSz="279400">
              <a:buFont typeface="Wingdings" panose="05000000000000000000" pitchFamily="2" charset="2"/>
              <a:buChar char="u"/>
              <a:defRPr sz="1800"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Requests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：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/>
              <a:sym typeface="Helvetica"/>
            </a:endParaRPr>
          </a:p>
          <a:p>
            <a:pPr defTabSz="279400">
              <a:defRPr sz="1800"/>
            </a:pPr>
            <a:endParaRPr lang="en-US" altLang="zh-CN" sz="2250" b="1" dirty="0">
              <a:latin typeface="微软雅黑" panose="020B0503020204020204" pitchFamily="34" charset="-122"/>
              <a:ea typeface="微软雅黑" panose="020B0503020204020204" pitchFamily="34" charset="-122"/>
              <a:cs typeface="Helvetica"/>
              <a:sym typeface="Helvetica"/>
            </a:endParaRPr>
          </a:p>
          <a:p>
            <a:pPr marL="438785" indent="-122555" defTabSz="279400">
              <a:buFont typeface="Arial" panose="020B0604020202090204" pitchFamily="34" charset="0"/>
              <a:buChar char="•"/>
              <a:defRPr sz="18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阐述所用方法的原理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72795" lvl="1" defTabSz="279400">
              <a:defRPr sz="1800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38785" indent="-122555" defTabSz="279400">
              <a:buFont typeface="Arial" panose="020B0604020202090204" pitchFamily="34" charset="0"/>
              <a:buChar char="•"/>
              <a:defRPr sz="18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展示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完整训练日志记录，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报告中需要有图像生成的结果；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785" indent="-122555" defTabSz="279400">
              <a:buFont typeface="Arial" panose="020B0604020202090204" pitchFamily="34" charset="0"/>
              <a:buChar char="•"/>
              <a:defRPr sz="1800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785" indent="-122555" defTabSz="279400">
              <a:buFont typeface="Arial" panose="020B0604020202090204" pitchFamily="34" charset="0"/>
              <a:buChar char="•"/>
              <a:defRPr sz="18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报告格式符合实验报告要求。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34"/>
          <p:cNvSpPr/>
          <p:nvPr>
            <p:custDataLst>
              <p:tags r:id="rId1"/>
            </p:custDataLst>
          </p:nvPr>
        </p:nvSpPr>
        <p:spPr>
          <a:xfrm>
            <a:off x="280161" y="1244252"/>
            <a:ext cx="8469204" cy="561374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241300" indent="-241300" defTabSz="279400">
              <a:buFont typeface="Wingdings" panose="05000000000000000000" pitchFamily="2" charset="2"/>
              <a:buChar char="u"/>
              <a:defRPr sz="1800"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Steps: 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/>
              <a:sym typeface="Helvetica"/>
            </a:endParaRPr>
          </a:p>
          <a:p>
            <a:pPr defTabSz="279400">
              <a:defRPr sz="1800"/>
            </a:pP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  <a:sym typeface="Helvetica"/>
            </a:endParaRPr>
          </a:p>
          <a:p>
            <a:pPr marL="436245" indent="-120650" defTabSz="279400">
              <a:buFont typeface="Arial" panose="020B0604020202090204" pitchFamily="34" charset="0"/>
              <a:buChar char="•"/>
              <a:defRPr sz="18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hlinkClick r:id="rId2"/>
              </a:rPr>
              <a:t>下载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hlinkClick r:id="rId2"/>
              </a:rPr>
              <a:t>cifar-10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hlinkClick r:id="rId2"/>
              </a:rPr>
              <a:t>数据集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(python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版本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6245" indent="-120650" defTabSz="279400">
              <a:buFont typeface="Arial" panose="020B0604020202090204" pitchFamily="34" charset="0"/>
              <a:buChar char="•"/>
              <a:defRPr sz="1800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785" indent="-122555" defTabSz="279400">
              <a:buFont typeface="Arial" panose="020B0604020202090204" pitchFamily="34" charset="0"/>
              <a:buChar char="•"/>
              <a:defRPr sz="18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将下载的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cifar-10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数据集转换为图片格式，并按类别存储对应的图片，存储结构如图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785" indent="-122555" defTabSz="279400">
              <a:buFont typeface="Arial" panose="020B0604020202090204" pitchFamily="34" charset="0"/>
              <a:buChar char="•"/>
              <a:defRPr sz="1800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785" indent="-122555" defTabSz="279400">
              <a:buFont typeface="Arial" panose="020B0604020202090204" pitchFamily="34" charset="0"/>
              <a:buChar char="•"/>
              <a:defRPr sz="18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配置好基础的深度学习环境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hlinkClick r:id="rId3"/>
              </a:rPr>
              <a:t>教程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785" indent="-122555" defTabSz="279400">
              <a:buFont typeface="Arial" panose="020B0604020202090204" pitchFamily="34" charset="0"/>
              <a:buChar char="•"/>
              <a:defRPr sz="1800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785" indent="-122555" defTabSz="279400">
              <a:buFont typeface="Arial" panose="020B0604020202090204" pitchFamily="34" charset="0"/>
              <a:buChar char="•"/>
              <a:defRPr sz="18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在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hlinkClick r:id="rId4"/>
              </a:rPr>
              <a:t>github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hlinkClick r:id="rId4"/>
              </a:rPr>
              <a:t>仓库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下载示例代码，阅读代码并将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cifar-10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数据集与代码结合。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785" indent="-122555" defTabSz="279400">
              <a:buFont typeface="Arial" panose="020B0604020202090204" pitchFamily="34" charset="0"/>
              <a:buChar char="•"/>
              <a:defRPr sz="1800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785" indent="-122555" defTabSz="279400">
              <a:buFont typeface="Arial" panose="020B0604020202090204" pitchFamily="34" charset="0"/>
              <a:buChar char="•"/>
              <a:defRPr sz="18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阅读代码后，调整训练的参数，训练图像生成模型，隔固定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epoch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保存模型。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785" indent="-122555" defTabSz="279400">
              <a:buFont typeface="Arial" panose="020B0604020202090204" pitchFamily="34" charset="0"/>
              <a:buChar char="•"/>
              <a:defRPr sz="1800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785" indent="-122555" defTabSz="279400">
              <a:buFont typeface="Arial" panose="020B0604020202090204" pitchFamily="34" charset="0"/>
              <a:buChar char="•"/>
              <a:defRPr sz="18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利用训练的模型，通过给予不同的类名，生成不同类别的图像（示例如第三页）。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785" indent="-122555" defTabSz="279400">
              <a:buFont typeface="Arial" panose="020B0604020202090204" pitchFamily="34" charset="0"/>
              <a:buChar char="•"/>
              <a:defRPr sz="1800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785" indent="-122555" defTabSz="279400">
              <a:buFont typeface="Arial" panose="020B0604020202090204" pitchFamily="34" charset="0"/>
              <a:buChar char="•"/>
              <a:defRPr sz="18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计算生成图像的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FID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分数（与训练集对比）。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785" indent="-122555" defTabSz="279400">
              <a:buFont typeface="Arial" panose="020B0604020202090204" pitchFamily="34" charset="0"/>
              <a:buChar char="•"/>
              <a:defRPr sz="1800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" name="Shape 32"/>
          <p:cNvSpPr txBox="1"/>
          <p:nvPr/>
        </p:nvSpPr>
        <p:spPr>
          <a:xfrm>
            <a:off x="2557195" y="295763"/>
            <a:ext cx="7358063" cy="9484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1800"/>
            </a:pPr>
            <a:r>
              <a:rPr lang="en-US" sz="3795" b="1" dirty="0">
                <a:latin typeface="Helvetica"/>
                <a:ea typeface="Helvetica"/>
                <a:cs typeface="Helvetica"/>
                <a:sym typeface="Helvetica"/>
              </a:rPr>
              <a:t>Big Assignment </a:t>
            </a:r>
            <a:r>
              <a:rPr lang="en-US" altLang="zh-CN" sz="3095" dirty="0"/>
              <a:t>—</a:t>
            </a:r>
            <a:endParaRPr lang="en-US" sz="3095" b="1" dirty="0">
              <a:latin typeface="Helvetica"/>
              <a:ea typeface="Helvetica"/>
              <a:cs typeface="Helvetica"/>
              <a:sym typeface="Helvetica"/>
            </a:endParaRPr>
          </a:p>
          <a:p>
            <a:pPr>
              <a:defRPr sz="1800"/>
            </a:pPr>
            <a:r>
              <a:rPr lang="en-US" sz="2250" b="1" dirty="0">
                <a:latin typeface="Helvetica"/>
                <a:ea typeface="Helvetica"/>
                <a:cs typeface="Helvetica"/>
                <a:sym typeface="Helvetica"/>
              </a:rPr>
              <a:t>Image Generation(</a:t>
            </a:r>
            <a:r>
              <a:rPr lang="zh-CN" altLang="en-US" sz="2250" b="1" dirty="0">
                <a:latin typeface="Helvetica"/>
                <a:ea typeface="Helvetica"/>
                <a:cs typeface="Helvetica"/>
                <a:sym typeface="Helvetica"/>
              </a:rPr>
              <a:t>图像生成</a:t>
            </a:r>
            <a:r>
              <a:rPr lang="en-US" altLang="zh-CN" sz="2250" b="1" dirty="0">
                <a:latin typeface="Helvetica"/>
                <a:ea typeface="Helvetica"/>
                <a:cs typeface="Helvetica"/>
                <a:sym typeface="Helvetica"/>
              </a:rPr>
              <a:t>)</a:t>
            </a:r>
            <a:endParaRPr lang="en-US" altLang="zh-CN" sz="2250" b="1" dirty="0">
              <a:latin typeface="Helvetica"/>
              <a:ea typeface="Helvetica"/>
              <a:cs typeface="Helvetica"/>
              <a:sym typeface="Helvetic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6394" y="1244253"/>
            <a:ext cx="2576518" cy="2603149"/>
          </a:xfrm>
          <a:prstGeom prst="rect">
            <a:avLst/>
          </a:prstGeom>
        </p:spPr>
      </p:pic>
      <p:sp>
        <p:nvSpPr>
          <p:cNvPr id="2" name="箭头: 右 1"/>
          <p:cNvSpPr/>
          <p:nvPr/>
        </p:nvSpPr>
        <p:spPr>
          <a:xfrm>
            <a:off x="8866394" y="4736235"/>
            <a:ext cx="683491" cy="3140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750530" y="4708587"/>
            <a:ext cx="2161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训练日志：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loss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箭头: 右 7"/>
          <p:cNvSpPr/>
          <p:nvPr/>
        </p:nvSpPr>
        <p:spPr>
          <a:xfrm>
            <a:off x="8866393" y="5640351"/>
            <a:ext cx="683491" cy="3140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803513" y="5638337"/>
            <a:ext cx="2161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每一类的生成图像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箭头: 右 9"/>
          <p:cNvSpPr/>
          <p:nvPr/>
        </p:nvSpPr>
        <p:spPr>
          <a:xfrm>
            <a:off x="5941185" y="6562237"/>
            <a:ext cx="683491" cy="3140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114027" y="6477174"/>
            <a:ext cx="2161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FID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分数表格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33"/>
          <p:cNvSpPr>
            <a:spLocks noGrp="1"/>
          </p:cNvSpPr>
          <p:nvPr>
            <p:ph type="body" idx="1"/>
          </p:nvPr>
        </p:nvSpPr>
        <p:spPr>
          <a:xfrm>
            <a:off x="2319921" y="1524897"/>
            <a:ext cx="7832612" cy="56378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41300" indent="-241300" algn="l" defTabSz="394335">
              <a:buFont typeface="Wingdings" panose="05000000000000000000" pitchFamily="2" charset="2"/>
              <a:buChar char="u"/>
              <a:defRPr sz="1800"/>
            </a:pPr>
            <a:r>
              <a:rPr lang="en-US" altLang="zh-CN" sz="2530" b="1" dirty="0"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Examples</a:t>
            </a:r>
            <a:r>
              <a:rPr lang="zh-CN" altLang="en-US" sz="2530" b="1" dirty="0"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（</a:t>
            </a:r>
            <a:r>
              <a:rPr lang="en-US" altLang="zh-CN" sz="2530" b="1" dirty="0"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cifar-10 dataset</a:t>
            </a:r>
            <a:r>
              <a:rPr lang="zh-CN" altLang="en-US" sz="2530" b="1" dirty="0"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）</a:t>
            </a:r>
            <a:r>
              <a:rPr sz="2530" b="1" dirty="0"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：</a:t>
            </a:r>
            <a:endParaRPr lang="en-US" sz="2530" b="1" dirty="0">
              <a:latin typeface="微软雅黑" panose="020B0503020204020204" pitchFamily="34" charset="-122"/>
              <a:ea typeface="微软雅黑" panose="020B0503020204020204" pitchFamily="34" charset="-122"/>
              <a:cs typeface="Helvetica"/>
              <a:sym typeface="Helvetica"/>
            </a:endParaRPr>
          </a:p>
        </p:txBody>
      </p:sp>
      <p:sp>
        <p:nvSpPr>
          <p:cNvPr id="5" name="Shape 32"/>
          <p:cNvSpPr txBox="1"/>
          <p:nvPr/>
        </p:nvSpPr>
        <p:spPr>
          <a:xfrm>
            <a:off x="2557195" y="295763"/>
            <a:ext cx="7358063" cy="9484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1800"/>
            </a:pPr>
            <a:r>
              <a:rPr lang="en-US" sz="3795" b="1" dirty="0">
                <a:latin typeface="Helvetica"/>
                <a:ea typeface="Helvetica"/>
                <a:cs typeface="Helvetica"/>
                <a:sym typeface="Helvetica"/>
              </a:rPr>
              <a:t>Big Assignment </a:t>
            </a:r>
            <a:r>
              <a:rPr lang="en-US" altLang="zh-CN" sz="3095" dirty="0"/>
              <a:t>—</a:t>
            </a:r>
            <a:endParaRPr lang="en-US" sz="3095" b="1" dirty="0">
              <a:latin typeface="Helvetica"/>
              <a:ea typeface="Helvetica"/>
              <a:cs typeface="Helvetica"/>
              <a:sym typeface="Helvetica"/>
            </a:endParaRPr>
          </a:p>
          <a:p>
            <a:pPr>
              <a:defRPr sz="1800"/>
            </a:pPr>
            <a:r>
              <a:rPr lang="en-US" sz="2250" b="1" dirty="0">
                <a:latin typeface="Helvetica"/>
                <a:ea typeface="Helvetica"/>
                <a:cs typeface="Helvetica"/>
                <a:sym typeface="Helvetica"/>
              </a:rPr>
              <a:t>Image Generation(</a:t>
            </a:r>
            <a:r>
              <a:rPr lang="zh-CN" altLang="en-US" sz="2250" b="1" dirty="0">
                <a:latin typeface="Helvetica"/>
                <a:ea typeface="Helvetica"/>
                <a:cs typeface="Helvetica"/>
                <a:sym typeface="Helvetica"/>
              </a:rPr>
              <a:t>图像生成</a:t>
            </a:r>
            <a:r>
              <a:rPr lang="en-US" altLang="zh-CN" sz="2250" b="1" dirty="0">
                <a:latin typeface="Helvetica"/>
                <a:ea typeface="Helvetica"/>
                <a:cs typeface="Helvetica"/>
                <a:sym typeface="Helvetica"/>
              </a:rPr>
              <a:t>)</a:t>
            </a:r>
            <a:endParaRPr lang="en-US" altLang="zh-CN" sz="2250" b="1" dirty="0">
              <a:latin typeface="Helvetica"/>
              <a:ea typeface="Helvetica"/>
              <a:cs typeface="Helvetica"/>
              <a:sym typeface="Helvetic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892" y="2624395"/>
            <a:ext cx="6123938" cy="8046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892" y="3878382"/>
            <a:ext cx="6123938" cy="80460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>
            <a:spLocks noGrp="1"/>
          </p:cNvSpPr>
          <p:nvPr>
            <p:ph type="body" idx="1"/>
          </p:nvPr>
        </p:nvSpPr>
        <p:spPr>
          <a:xfrm>
            <a:off x="2319921" y="1524897"/>
            <a:ext cx="7832612" cy="49772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41300" indent="-241300" algn="l" defTabSz="394335">
              <a:buFont typeface="Wingdings" panose="05000000000000000000" pitchFamily="2" charset="2"/>
              <a:buChar char="u"/>
              <a:defRPr sz="1800"/>
            </a:pPr>
            <a:r>
              <a:rPr sz="2530" b="1" dirty="0"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References：</a:t>
            </a:r>
            <a:endParaRPr lang="en-US" sz="2530" b="1" dirty="0">
              <a:latin typeface="微软雅黑" panose="020B0503020204020204" pitchFamily="34" charset="-122"/>
              <a:ea typeface="微软雅黑" panose="020B0503020204020204" pitchFamily="34" charset="-122"/>
              <a:cs typeface="Helvetica"/>
              <a:sym typeface="Helvetica"/>
            </a:endParaRPr>
          </a:p>
          <a:p>
            <a:pPr marL="241300" indent="-241300" algn="l" defTabSz="394335">
              <a:buFont typeface="Wingdings" panose="05000000000000000000" pitchFamily="2" charset="2"/>
              <a:buChar char="u"/>
              <a:defRPr sz="1800"/>
            </a:pPr>
            <a:endParaRPr lang="zh-CN" altLang="en-US" sz="1970" b="1" dirty="0">
              <a:latin typeface="Helvetica"/>
              <a:ea typeface="Helvetica"/>
              <a:cs typeface="Helvetica"/>
              <a:sym typeface="Helvetica"/>
            </a:endParaRPr>
          </a:p>
          <a:p>
            <a:pPr marL="509270" indent="-241300" algn="l" defTabSz="308610">
              <a:buFont typeface="Arial" panose="020B0604020202090204" pitchFamily="34" charset="0"/>
              <a:buChar char="•"/>
              <a:defRPr sz="1800"/>
            </a:pP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90204" pitchFamily="34" charset="0"/>
              </a:rPr>
              <a:t>Goodfellow I,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90204" pitchFamily="34" charset="0"/>
              </a:rPr>
              <a:t>Pouget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90204" pitchFamily="34" charset="0"/>
              </a:rPr>
              <a:t>-Abadie J, Mirza M, et al. Generative adversarial networks[J]. Communications of the ACM, 2020, 63(11): 139-144.</a:t>
            </a:r>
            <a:endParaRPr lang="en-US" altLang="zh-CN" sz="1600" b="0" i="0" dirty="0">
              <a:solidFill>
                <a:srgbClr val="222222"/>
              </a:solidFill>
              <a:effectLst/>
              <a:latin typeface="Arial" panose="020B0604020202090204" pitchFamily="34" charset="0"/>
            </a:endParaRPr>
          </a:p>
          <a:p>
            <a:pPr marL="509270" indent="-241300" algn="l" defTabSz="308610">
              <a:buFont typeface="Arial" panose="020B0604020202090204" pitchFamily="34" charset="0"/>
              <a:buChar char="•"/>
              <a:defRPr sz="1800"/>
            </a:pPr>
            <a:endParaRPr lang="en-US" altLang="zh-CN" sz="1600" b="0" i="0" dirty="0">
              <a:solidFill>
                <a:srgbClr val="222222"/>
              </a:solidFill>
              <a:effectLst/>
              <a:latin typeface="Arial" panose="020B0604020202090204" pitchFamily="34" charset="0"/>
            </a:endParaRPr>
          </a:p>
          <a:p>
            <a:pPr marL="509270" indent="-241300" algn="l" defTabSz="308610">
              <a:buFont typeface="Arial" panose="020B0604020202090204" pitchFamily="34" charset="0"/>
              <a:buChar char="•"/>
              <a:defRPr sz="1800"/>
            </a:pP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90204" pitchFamily="34" charset="0"/>
              </a:rPr>
              <a:t>Radford A. Unsupervised representation learning with deep convolutional generative adversarial networks[J].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90204" pitchFamily="34" charset="0"/>
              </a:rPr>
              <a:t>arXiv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90204" pitchFamily="34" charset="0"/>
              </a:rPr>
              <a:t> preprint arXiv:1511.06434, 2015.</a:t>
            </a:r>
            <a:endParaRPr lang="en-US" altLang="zh-CN" sz="1600" b="0" i="0" dirty="0">
              <a:solidFill>
                <a:srgbClr val="222222"/>
              </a:solidFill>
              <a:effectLst/>
              <a:latin typeface="Arial" panose="020B0604020202090204" pitchFamily="34" charset="0"/>
            </a:endParaRPr>
          </a:p>
          <a:p>
            <a:pPr marL="509270" indent="-241300" algn="l" defTabSz="308610">
              <a:buFont typeface="Arial" panose="020B0604020202090204" pitchFamily="34" charset="0"/>
              <a:buChar char="•"/>
              <a:defRPr sz="1800"/>
            </a:pPr>
            <a:endParaRPr lang="en-US" altLang="zh-CN" sz="1600" dirty="0">
              <a:solidFill>
                <a:srgbClr val="222222"/>
              </a:solidFill>
              <a:latin typeface="Arial" panose="020B0604020202090204" pitchFamily="34" charset="0"/>
            </a:endParaRPr>
          </a:p>
          <a:p>
            <a:pPr marL="509270" indent="-241300" algn="l" defTabSz="308610">
              <a:buFont typeface="Arial" panose="020B0604020202090204" pitchFamily="34" charset="0"/>
              <a:buChar char="•"/>
              <a:defRPr sz="1800"/>
            </a:pP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90204" pitchFamily="34" charset="0"/>
              </a:rPr>
              <a:t>Ho J, Jain A,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90204" pitchFamily="34" charset="0"/>
              </a:rPr>
              <a:t>Abbeel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90204" pitchFamily="34" charset="0"/>
              </a:rPr>
              <a:t> P. Denoising diffusion probabilistic models[J]. Advances in neural information processing systems, 2020, 33: 6840-6851.</a:t>
            </a:r>
            <a:endParaRPr lang="en-US" altLang="zh-CN" sz="1600" b="0" i="0" dirty="0">
              <a:solidFill>
                <a:srgbClr val="222222"/>
              </a:solidFill>
              <a:effectLst/>
              <a:latin typeface="Arial" panose="020B0604020202090204" pitchFamily="34" charset="0"/>
            </a:endParaRPr>
          </a:p>
          <a:p>
            <a:pPr marL="509270" indent="-241300" algn="l" defTabSz="308610">
              <a:buFont typeface="Arial" panose="020B0604020202090204" pitchFamily="34" charset="0"/>
              <a:buChar char="•"/>
              <a:defRPr sz="1800"/>
            </a:pPr>
            <a:endParaRPr lang="en-US" altLang="zh-CN" sz="1600" b="0" i="0" dirty="0">
              <a:solidFill>
                <a:srgbClr val="222222"/>
              </a:solidFill>
              <a:effectLst/>
              <a:latin typeface="Arial" panose="020B0604020202090204" pitchFamily="34" charset="0"/>
            </a:endParaRPr>
          </a:p>
          <a:p>
            <a:pPr marL="509270" indent="-241300" algn="l" defTabSz="308610">
              <a:buFont typeface="Arial" panose="020B0604020202090204" pitchFamily="34" charset="0"/>
              <a:buChar char="•"/>
              <a:defRPr sz="1800"/>
            </a:pP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90204" pitchFamily="34" charset="0"/>
              </a:rPr>
              <a:t>Song J, Meng C,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90204" pitchFamily="34" charset="0"/>
              </a:rPr>
              <a:t>Ermon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90204" pitchFamily="34" charset="0"/>
              </a:rPr>
              <a:t> S. Denoising diffusion implicit models[J].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90204" pitchFamily="34" charset="0"/>
              </a:rPr>
              <a:t>arXiv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90204" pitchFamily="34" charset="0"/>
              </a:rPr>
              <a:t> preprint arXiv:2010.02502, 2020.</a:t>
            </a:r>
            <a:endParaRPr lang="en-US" altLang="zh-CN" sz="1600" b="0" i="0" dirty="0">
              <a:solidFill>
                <a:srgbClr val="222222"/>
              </a:solidFill>
              <a:effectLst/>
              <a:latin typeface="Arial" panose="020B0604020202090204" pitchFamily="34" charset="0"/>
            </a:endParaRPr>
          </a:p>
          <a:p>
            <a:pPr marL="509270" indent="-241300" algn="l" defTabSz="308610">
              <a:buFont typeface="Arial" panose="020B0604020202090204" pitchFamily="34" charset="0"/>
              <a:buChar char="•"/>
              <a:defRPr sz="1800"/>
            </a:pPr>
            <a:endParaRPr lang="en-US" altLang="zh-CN" sz="1600" b="0" i="0" dirty="0">
              <a:solidFill>
                <a:srgbClr val="222222"/>
              </a:solidFill>
              <a:effectLst/>
              <a:latin typeface="Arial" panose="020B0604020202090204" pitchFamily="34" charset="0"/>
            </a:endParaRPr>
          </a:p>
          <a:p>
            <a:pPr marL="509270" indent="-241300" algn="l" defTabSz="308610">
              <a:buFont typeface="Arial" panose="020B0604020202090204" pitchFamily="34" charset="0"/>
              <a:buChar char="•"/>
              <a:defRPr sz="1800"/>
            </a:pP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90204" pitchFamily="34" charset="0"/>
              </a:rPr>
              <a:t>Heusel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90204" pitchFamily="34" charset="0"/>
              </a:rPr>
              <a:t> M,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90204" pitchFamily="34" charset="0"/>
              </a:rPr>
              <a:t>Ramsauer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90204" pitchFamily="34" charset="0"/>
              </a:rPr>
              <a:t> H,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90204" pitchFamily="34" charset="0"/>
              </a:rPr>
              <a:t>Unterthiner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90204" pitchFamily="34" charset="0"/>
              </a:rPr>
              <a:t> T, et al. Gans trained by a two time-scale update rule converge to a local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90204" pitchFamily="34" charset="0"/>
              </a:rPr>
              <a:t>nash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90204" pitchFamily="34" charset="0"/>
              </a:rPr>
              <a:t> equilibrium[J]. Advances in neural information processing systems, 2017, 30.</a:t>
            </a:r>
            <a:endParaRPr lang="en-US" sz="1685" dirty="0">
              <a:solidFill>
                <a:srgbClr val="23232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Shape 32"/>
          <p:cNvSpPr txBox="1"/>
          <p:nvPr/>
        </p:nvSpPr>
        <p:spPr>
          <a:xfrm>
            <a:off x="2557195" y="295763"/>
            <a:ext cx="7358063" cy="9484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1800"/>
            </a:pPr>
            <a:r>
              <a:rPr lang="en-US" sz="3795" b="1" dirty="0">
                <a:latin typeface="Helvetica"/>
                <a:ea typeface="Helvetica"/>
                <a:cs typeface="Helvetica"/>
                <a:sym typeface="Helvetica"/>
              </a:rPr>
              <a:t>Big Assignment </a:t>
            </a:r>
            <a:r>
              <a:rPr lang="en-US" altLang="zh-CN" sz="3095" dirty="0"/>
              <a:t>—</a:t>
            </a:r>
            <a:endParaRPr lang="en-US" sz="3095" b="1" dirty="0">
              <a:latin typeface="Helvetica"/>
              <a:ea typeface="Helvetica"/>
              <a:cs typeface="Helvetica"/>
              <a:sym typeface="Helvetica"/>
            </a:endParaRPr>
          </a:p>
          <a:p>
            <a:pPr>
              <a:defRPr sz="1800"/>
            </a:pPr>
            <a:r>
              <a:rPr lang="en-US" sz="2250" b="1" dirty="0">
                <a:latin typeface="Helvetica"/>
                <a:ea typeface="Helvetica"/>
                <a:cs typeface="Helvetica"/>
                <a:sym typeface="Helvetica"/>
              </a:rPr>
              <a:t>Image Generation(</a:t>
            </a:r>
            <a:r>
              <a:rPr lang="zh-CN" altLang="en-US" sz="2250" b="1" dirty="0">
                <a:latin typeface="Helvetica"/>
                <a:ea typeface="Helvetica"/>
                <a:cs typeface="Helvetica"/>
                <a:sym typeface="Helvetica"/>
              </a:rPr>
              <a:t>图像生成</a:t>
            </a:r>
            <a:r>
              <a:rPr lang="en-US" altLang="zh-CN" sz="2250" b="1" dirty="0">
                <a:latin typeface="Helvetica"/>
                <a:ea typeface="Helvetica"/>
                <a:cs typeface="Helvetica"/>
                <a:sym typeface="Helvetica"/>
              </a:rPr>
              <a:t>)</a:t>
            </a:r>
            <a:endParaRPr lang="en-US" altLang="zh-CN" sz="2250" b="1" dirty="0">
              <a:latin typeface="Helvetica"/>
              <a:ea typeface="Helvetica"/>
              <a:cs typeface="Helvetica"/>
              <a:sym typeface="Helvetica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1339</Words>
  <Application>WPS 文字</Application>
  <PresentationFormat>宽屏</PresentationFormat>
  <Paragraphs>67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5" baseType="lpstr">
      <vt:lpstr>Arial</vt:lpstr>
      <vt:lpstr>宋体</vt:lpstr>
      <vt:lpstr>Wingdings</vt:lpstr>
      <vt:lpstr>Helvetica</vt:lpstr>
      <vt:lpstr>微软雅黑</vt:lpstr>
      <vt:lpstr>汉仪旗黑</vt:lpstr>
      <vt:lpstr>Arial Unicode MS</vt:lpstr>
      <vt:lpstr>Arial</vt:lpstr>
      <vt:lpstr>等线 Light</vt:lpstr>
      <vt:lpstr>汉仪中等线KW</vt:lpstr>
      <vt:lpstr>宋体</vt:lpstr>
      <vt:lpstr>汉仪书宋二KW</vt:lpstr>
      <vt:lpstr>等线</vt:lpstr>
      <vt:lpstr>Calibri</vt:lpstr>
      <vt:lpstr>Helvetica Neue</vt:lpstr>
      <vt:lpstr>Helvetica</vt:lpstr>
      <vt:lpstr>Wingdings</vt:lpstr>
      <vt:lpstr>微软雅黑</vt:lpstr>
      <vt:lpstr>苹方-简</vt:lpstr>
      <vt:lpstr>江城圆体 400W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志坚 徐</dc:creator>
  <cp:lastModifiedBy>周湛昊</cp:lastModifiedBy>
  <cp:revision>62</cp:revision>
  <dcterms:created xsi:type="dcterms:W3CDTF">2026-04-18T17:04:07Z</dcterms:created>
  <dcterms:modified xsi:type="dcterms:W3CDTF">2026-04-18T17:04:07Z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2052-12.1.25867.25867</vt:lpwstr>
  </property>
  <property fmtid="{D5CDD505-2E9C-101B-9397-08002B2CF9AE}" pid="3" name="ICV">
    <vt:lpwstr>F83AE04F1748DAD487B9E369BAC51B10_42</vt:lpwstr>
  </property>
</Properties>
</file>