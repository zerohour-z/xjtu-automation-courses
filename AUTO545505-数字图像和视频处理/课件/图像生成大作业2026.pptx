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0" r:id="rId3"/>
    <p:sldId id="259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4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F5D26F-6DD8-486B-8D6C-B712C33D39D7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9142FB-028E-46F6-A779-1DF982BCE3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5280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9142FB-028E-46F6-A779-1DF982BCE36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2767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CB14CF-94A9-0FD4-BE84-3BADC70A0A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92EF718-E707-B946-7160-B2D178A9AC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1EB17C-94CC-B2B3-D821-BB396755A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4C781-66EE-442A-91A4-7B7CCA1FC0FA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6D0A3B-FD36-4E01-2715-E1A89A963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ABDFEF-0F31-8011-5D44-8CE9A04C3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EEE5-C2F0-4987-95DF-423D126040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7693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39DBC-CCFB-CFB3-A5C3-9F3F501CC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C00866-A112-5A37-DE7D-973D65562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432277-C9FF-C4A1-F9F6-54B82E869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4C781-66EE-442A-91A4-7B7CCA1FC0FA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8E7760-D6D4-62AE-2A3E-91D9167B9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0845AF-7800-7D3D-E5CF-39183C23D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EEE5-C2F0-4987-95DF-423D126040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2293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8716DB-D489-CA68-DCB8-DBC672A98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B6CD22-B175-4D83-766F-C33DCEAF8E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369EC6-A4D1-7AF4-9E1C-86213114E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4C781-66EE-442A-91A4-7B7CCA1FC0FA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3E5C4C-9CCE-2957-69D6-B6C779A93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E4B2ED-8E60-344B-D94D-1E05441EE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EEE5-C2F0-4987-95DF-423D126040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7208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102BFE-3DC4-C997-3CFA-33D3857D3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8835BC-0066-8EAC-7B94-09BAE625E2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4536B52-5063-3AB9-55FD-5002F10AA5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8F354E5-C72A-C441-19FA-320D4FB69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4C781-66EE-442A-91A4-7B7CCA1FC0FA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B2D43E-3B61-4F9B-EA73-7FFC6AA5E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40E0998-4E85-8201-A650-A4EEAC26A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EEE5-C2F0-4987-95DF-423D126040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2063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23E5A6-7003-1FD5-EAD9-D62F293D4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ACD90A-1CFB-E1EA-DD4E-37270494F2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4BF2EE5-5BA8-2D8B-26B4-738DC34F1E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CE6613E-EBA0-E1DE-61F0-A21E1BB2B3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D1CF524-68BA-91D9-069A-DD8D96E5F7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85E736F-7DF8-54DA-CF35-76A019AEC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4C781-66EE-442A-91A4-7B7CCA1FC0FA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99E8F05-1D24-CCE5-F3C5-0E6785623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B85613E-FBEA-21AD-8714-D38033809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EEE5-C2F0-4987-95DF-423D126040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385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5B1121-9DBD-FEE2-67A2-EC6AC207A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92F7BA4-5991-6C34-ECE1-F8BC3B89A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4C781-66EE-442A-91A4-7B7CCA1FC0FA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CD07E3C-1EFE-25AC-B0A8-8BC3E42FB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6D4AE87-D496-00AA-C845-490FA426D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EEE5-C2F0-4987-95DF-423D126040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4110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B7AE63F-30BB-7F99-C7B7-C44C92CFC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4C781-66EE-442A-91A4-7B7CCA1FC0FA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837DB53-BA78-2019-2A64-9E6707BEB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2A9F73-B31D-665D-43C5-31A532F88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EEE5-C2F0-4987-95DF-423D126040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7113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525700-0E96-431E-7CBA-246D679E1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51FB67-9E8F-807D-7D25-BB101546A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437A53B-2852-EC2B-852A-F9BE827617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CCBF3AD-3BEE-D045-BA25-04F63A818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4C781-66EE-442A-91A4-7B7CCA1FC0FA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092EDC9-D377-4106-5614-9782B3DDF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E497D2-8B73-9D52-7E67-BA87775BE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EEE5-C2F0-4987-95DF-423D126040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0015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040DF3-273F-EFE7-66E2-87CFF8600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9EC4D48-8286-2D1B-48A3-23D2940651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C0803B4-DE3D-5AF0-18BD-8B62D092AA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0683DA-EBC9-875B-7849-A7C8CAC52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4C781-66EE-442A-91A4-7B7CCA1FC0FA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9CCB3F-F094-5788-FD83-2ACD93AB0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BDA11FE-F641-35DF-443D-0B9725AE1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EEE5-C2F0-4987-95DF-423D126040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3241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4FFC1D-47BE-1F8A-FFFE-C47055BDD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B57DF91-191E-13FF-5D36-9B846B1631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78A323-55D9-980C-2B4F-5A21273AB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4C781-66EE-442A-91A4-7B7CCA1FC0FA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4E450B-7493-0A95-B563-64E9F512E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9B7F89-3459-6A36-B18F-344367056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EEE5-C2F0-4987-95DF-423D126040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6145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66E065D-193E-F6AB-18CF-EF2F7CD599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00F22F1-F499-B92B-FDD8-FCEDAA762A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8F072E-5660-1DB5-D0EB-1847A3FE8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4C781-66EE-442A-91A4-7B7CCA1FC0FA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82488D-522F-AF95-8807-C04E16616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8453D0-F1C4-AC64-9DDD-5B7F2F689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EEE5-C2F0-4987-95DF-423D126040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8679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>
            <a:spLocks noGrp="1"/>
          </p:cNvSpPr>
          <p:nvPr>
            <p:ph type="title"/>
          </p:nvPr>
        </p:nvSpPr>
        <p:spPr>
          <a:xfrm>
            <a:off x="1190625" y="1151930"/>
            <a:ext cx="9810750" cy="2321719"/>
          </a:xfrm>
          <a:prstGeom prst="rect">
            <a:avLst/>
          </a:prstGeom>
        </p:spPr>
        <p:txBody>
          <a:bodyPr anchor="b"/>
          <a:lstStyle/>
          <a:p>
            <a:pPr lvl="0">
              <a:defRPr sz="1800"/>
            </a:pPr>
            <a:r>
              <a:rPr sz="5625"/>
              <a:t>标题文本</a:t>
            </a:r>
          </a:p>
        </p:txBody>
      </p:sp>
      <p:sp>
        <p:nvSpPr>
          <p:cNvPr id="6" name="Shape 6"/>
          <p:cNvSpPr>
            <a:spLocks noGrp="1"/>
          </p:cNvSpPr>
          <p:nvPr>
            <p:ph type="body" idx="1"/>
          </p:nvPr>
        </p:nvSpPr>
        <p:spPr>
          <a:xfrm>
            <a:off x="1190625" y="3536156"/>
            <a:ext cx="9810750" cy="794742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250"/>
            </a:lvl1pPr>
            <a:lvl2pPr marL="0" indent="160729" algn="ctr">
              <a:spcBef>
                <a:spcPts val="0"/>
              </a:spcBef>
              <a:buSzTx/>
              <a:buNone/>
              <a:defRPr sz="2250"/>
            </a:lvl2pPr>
            <a:lvl3pPr marL="0" indent="321457" algn="ctr">
              <a:spcBef>
                <a:spcPts val="0"/>
              </a:spcBef>
              <a:buSzTx/>
              <a:buNone/>
              <a:defRPr sz="2250"/>
            </a:lvl3pPr>
            <a:lvl4pPr marL="0" indent="482186" algn="ctr">
              <a:spcBef>
                <a:spcPts val="0"/>
              </a:spcBef>
              <a:buSzTx/>
              <a:buNone/>
              <a:defRPr sz="2250"/>
            </a:lvl4pPr>
            <a:lvl5pPr marL="0" indent="642915" algn="ctr">
              <a:spcBef>
                <a:spcPts val="0"/>
              </a:spcBef>
              <a:buSzTx/>
              <a:buNone/>
              <a:defRPr sz="2250"/>
            </a:lvl5pPr>
          </a:lstStyle>
          <a:p>
            <a:pPr lvl="0">
              <a:defRPr sz="1800"/>
            </a:pPr>
            <a:r>
              <a:rPr sz="2250"/>
              <a:t>正文级别 1</a:t>
            </a:r>
          </a:p>
          <a:p>
            <a:pPr lvl="1">
              <a:defRPr sz="1800"/>
            </a:pPr>
            <a:r>
              <a:rPr sz="2250"/>
              <a:t>正文级别 2</a:t>
            </a:r>
          </a:p>
          <a:p>
            <a:pPr lvl="2">
              <a:defRPr sz="1800"/>
            </a:pPr>
            <a:r>
              <a:rPr sz="2250"/>
              <a:t>正文级别 3</a:t>
            </a:r>
          </a:p>
          <a:p>
            <a:pPr lvl="3">
              <a:defRPr sz="1800"/>
            </a:pPr>
            <a:r>
              <a:rPr sz="2250"/>
              <a:t>正文级别 4</a:t>
            </a:r>
          </a:p>
          <a:p>
            <a:pPr lvl="4">
              <a:defRPr sz="1800"/>
            </a:pPr>
            <a:r>
              <a:rPr sz="2250"/>
              <a:t>正文级别 5</a:t>
            </a:r>
          </a:p>
        </p:txBody>
      </p:sp>
    </p:spTree>
    <p:extLst>
      <p:ext uri="{BB962C8B-B14F-4D97-AF65-F5344CB8AC3E}">
        <p14:creationId xmlns:p14="http://schemas.microsoft.com/office/powerpoint/2010/main" val="407494019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4F7E03C-4862-9C40-1E3C-6D16A7E15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32EA78-D332-8D65-D135-FC96F1A385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2A0300-52CD-07DE-4A5E-5A632D266C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94C781-66EE-442A-91A4-7B7CCA1FC0FA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619779-5900-0F60-AD67-79272CDDF4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7AB751-3658-26AB-64BF-9E4767060C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F1EEE5-C2F0-4987-95DF-423D126040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0819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toronto.edu/~kriz/cifar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hyperlink" Target="https://github.com/chairc/Integrated-Design-Diffusion-Model/tree/main?tab=readme-ov-file" TargetMode="External"/><Relationship Id="rId4" Type="http://schemas.openxmlformats.org/officeDocument/2006/relationships/hyperlink" Target="https://blog.csdn.net/fengzhuqiaoqiu/article/details/138017211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32">
            <a:extLst>
              <a:ext uri="{FF2B5EF4-FFF2-40B4-BE49-F238E27FC236}">
                <a16:creationId xmlns:a16="http://schemas.microsoft.com/office/drawing/2014/main" id="{B54B088A-4A7F-CE17-92F9-BA72C24D701F}"/>
              </a:ext>
            </a:extLst>
          </p:cNvPr>
          <p:cNvSpPr txBox="1">
            <a:spLocks/>
          </p:cNvSpPr>
          <p:nvPr/>
        </p:nvSpPr>
        <p:spPr>
          <a:xfrm>
            <a:off x="2557195" y="295763"/>
            <a:ext cx="7358063" cy="94849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1800"/>
            </a:pPr>
            <a:r>
              <a:rPr lang="en-US" sz="3797" b="1" dirty="0">
                <a:latin typeface="Helvetica"/>
                <a:ea typeface="Helvetica"/>
                <a:cs typeface="Helvetica"/>
                <a:sym typeface="Helvetica"/>
              </a:rPr>
              <a:t>Big Assignment </a:t>
            </a:r>
            <a:r>
              <a:rPr lang="en-US" altLang="zh-CN" sz="3094" dirty="0"/>
              <a:t>—</a:t>
            </a:r>
            <a:endParaRPr lang="en-US" sz="3094" b="1" dirty="0">
              <a:latin typeface="Helvetica"/>
              <a:ea typeface="Helvetica"/>
              <a:cs typeface="Helvetica"/>
              <a:sym typeface="Helvetica"/>
            </a:endParaRPr>
          </a:p>
          <a:p>
            <a:pPr>
              <a:defRPr sz="1800"/>
            </a:pPr>
            <a:r>
              <a:rPr lang="en-US" sz="2250" b="1" dirty="0">
                <a:latin typeface="Helvetica"/>
                <a:ea typeface="Helvetica"/>
                <a:cs typeface="Helvetica"/>
                <a:sym typeface="Helvetica"/>
              </a:rPr>
              <a:t>Image Generation(</a:t>
            </a:r>
            <a:r>
              <a:rPr lang="zh-CN" altLang="en-US" sz="2250" b="1" dirty="0">
                <a:latin typeface="Helvetica"/>
                <a:ea typeface="Helvetica"/>
                <a:cs typeface="Helvetica"/>
                <a:sym typeface="Helvetica"/>
              </a:rPr>
              <a:t>图像生成</a:t>
            </a:r>
            <a:r>
              <a:rPr lang="en-US" altLang="zh-CN" sz="2250" b="1" dirty="0">
                <a:latin typeface="Helvetica"/>
                <a:ea typeface="Helvetica"/>
                <a:cs typeface="Helvetica"/>
                <a:sym typeface="Helvetica"/>
              </a:rPr>
              <a:t>)</a:t>
            </a:r>
          </a:p>
        </p:txBody>
      </p:sp>
      <p:sp>
        <p:nvSpPr>
          <p:cNvPr id="5" name="Shape 34">
            <a:extLst>
              <a:ext uri="{FF2B5EF4-FFF2-40B4-BE49-F238E27FC236}">
                <a16:creationId xmlns:a16="http://schemas.microsoft.com/office/drawing/2014/main" id="{078CDB97-E5F3-9858-AFB7-D21A325A42C7}"/>
              </a:ext>
            </a:extLst>
          </p:cNvPr>
          <p:cNvSpPr/>
          <p:nvPr/>
        </p:nvSpPr>
        <p:spPr>
          <a:xfrm>
            <a:off x="2416968" y="1244254"/>
            <a:ext cx="8598790" cy="26031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 lnSpcReduction="10000"/>
          </a:bodyPr>
          <a:lstStyle/>
          <a:p>
            <a:pPr marL="241093" indent="-241093" defTabSz="279311">
              <a:buFont typeface="Wingdings" panose="05000000000000000000" pitchFamily="2" charset="2"/>
              <a:buChar char="u"/>
              <a:defRPr sz="1800"/>
            </a:pPr>
            <a:r>
              <a:rPr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/>
                <a:sym typeface="Helvetica"/>
              </a:rPr>
              <a:t>Task: </a:t>
            </a: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/>
              <a:sym typeface="Helvetica"/>
            </a:endParaRPr>
          </a:p>
          <a:p>
            <a:pPr defTabSz="279311">
              <a:defRPr sz="1800"/>
            </a:pPr>
            <a:r>
              <a:rPr 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Helvetica"/>
                <a:sym typeface="Helvetica"/>
              </a:rPr>
              <a:t>     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Helvetica"/>
                <a:sym typeface="Helvetica"/>
              </a:rPr>
              <a:t>构建一个图像生成模型（可参考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Helvetica"/>
                <a:sym typeface="Helvetica"/>
              </a:rPr>
              <a:t>Ref. 1-4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Helvetica"/>
                <a:sym typeface="Helvetica"/>
              </a:rPr>
              <a:t>中的模型）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Helvetica"/>
              <a:sym typeface="Helvetica"/>
            </a:endParaRPr>
          </a:p>
          <a:p>
            <a:pPr defTabSz="279311">
              <a:defRPr sz="1800"/>
            </a:pP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  <a:sym typeface="Helvetica"/>
            </a:endParaRPr>
          </a:p>
          <a:p>
            <a:pPr marL="436423" indent="-120546" defTabSz="279311">
              <a:buFont typeface="Arial" panose="020B0604020202020204" pitchFamily="34" charset="0"/>
              <a:buChar char="•"/>
              <a:defRPr sz="1800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cifar-10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数据集实现图像生成；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  <a:p>
            <a:pPr marL="436423" indent="-120546" defTabSz="279311">
              <a:buFont typeface="Arial" panose="020B0604020202020204" pitchFamily="34" charset="0"/>
              <a:buChar char="•"/>
              <a:defRPr sz="1800"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  <a:p>
            <a:pPr marL="438656" indent="-122779" defTabSz="279311">
              <a:buFont typeface="Arial" panose="020B0604020202020204" pitchFamily="34" charset="0"/>
              <a:buChar char="•"/>
              <a:defRPr sz="1800"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计算生成图像与数据集图像的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FID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分数（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Ref. 5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）。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  <a:p>
            <a:pPr marL="438656" indent="-122779" defTabSz="279311">
              <a:buFont typeface="Arial" panose="020B0604020202020204" pitchFamily="34" charset="0"/>
              <a:buChar char="•"/>
              <a:defRPr sz="1800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  <a:p>
            <a:pPr marL="438656" indent="-122779" defTabSz="279311">
              <a:buFont typeface="Arial" panose="020B0604020202020204" pitchFamily="34" charset="0"/>
              <a:buChar char="•"/>
              <a:defRPr sz="1800"/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 加分项：在自定义数据集构建图像生成模型，在更多数据集上进行实验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  <a:p>
            <a:pPr marL="438656" indent="-122779" defTabSz="279311">
              <a:buFont typeface="Arial" panose="020B0604020202020204" pitchFamily="34" charset="0"/>
              <a:buChar char="•"/>
              <a:defRPr sz="1800"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DD8092C-FA75-68F4-8CE0-2E200755A1BC}"/>
              </a:ext>
            </a:extLst>
          </p:cNvPr>
          <p:cNvSpPr/>
          <p:nvPr/>
        </p:nvSpPr>
        <p:spPr>
          <a:xfrm>
            <a:off x="2416968" y="3789727"/>
            <a:ext cx="7958932" cy="26031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15877" defTabSz="279311">
              <a:defRPr sz="1800"/>
            </a:pPr>
            <a:endParaRPr lang="en-US" altLang="zh-CN" sz="1266" dirty="0"/>
          </a:p>
          <a:p>
            <a:pPr marL="241093" indent="-241093" defTabSz="279311">
              <a:buFont typeface="Wingdings" panose="05000000000000000000" pitchFamily="2" charset="2"/>
              <a:buChar char="u"/>
              <a:defRPr sz="1800"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/>
                <a:sym typeface="Helvetica"/>
              </a:rPr>
              <a:t>Requests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/>
                <a:sym typeface="Helvetica"/>
              </a:rPr>
              <a:t>：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/>
              <a:sym typeface="Helvetica"/>
            </a:endParaRPr>
          </a:p>
          <a:p>
            <a:pPr defTabSz="279311">
              <a:defRPr sz="1800"/>
            </a:pPr>
            <a:endParaRPr lang="en-US" altLang="zh-CN" sz="2250" b="1" dirty="0">
              <a:latin typeface="微软雅黑" panose="020B0503020204020204" pitchFamily="34" charset="-122"/>
              <a:ea typeface="微软雅黑" panose="020B0503020204020204" pitchFamily="34" charset="-122"/>
              <a:cs typeface="Helvetica"/>
              <a:sym typeface="Helvetica"/>
            </a:endParaRPr>
          </a:p>
          <a:p>
            <a:pPr marL="438656" indent="-122779" defTabSz="279311">
              <a:buFont typeface="Arial" panose="020B0604020202020204" pitchFamily="34" charset="0"/>
              <a:buChar char="•"/>
              <a:defRPr sz="1800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阐述所用方法的原理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73077" lvl="1" defTabSz="279311">
              <a:defRPr sz="1800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38656" indent="-122779" defTabSz="279311">
              <a:buFont typeface="Arial" panose="020B0604020202020204" pitchFamily="34" charset="0"/>
              <a:buChar char="•"/>
              <a:defRPr sz="1800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展示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完整训练日志记录，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报告中需要有图像生成的结果；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  <a:p>
            <a:pPr marL="438656" indent="-122779" defTabSz="279311">
              <a:buFont typeface="Arial" panose="020B0604020202020204" pitchFamily="34" charset="0"/>
              <a:buChar char="•"/>
              <a:defRPr sz="1800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  <a:p>
            <a:pPr marL="438656" indent="-122779" defTabSz="279311">
              <a:buFont typeface="Arial" panose="020B0604020202020204" pitchFamily="34" charset="0"/>
              <a:buChar char="•"/>
              <a:defRPr sz="1800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报告格式符合实验报告要求。</a:t>
            </a:r>
          </a:p>
        </p:txBody>
      </p:sp>
    </p:spTree>
    <p:extLst>
      <p:ext uri="{BB962C8B-B14F-4D97-AF65-F5344CB8AC3E}">
        <p14:creationId xmlns:p14="http://schemas.microsoft.com/office/powerpoint/2010/main" val="1998038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34">
            <a:extLst>
              <a:ext uri="{FF2B5EF4-FFF2-40B4-BE49-F238E27FC236}">
                <a16:creationId xmlns:a16="http://schemas.microsoft.com/office/drawing/2014/main" id="{38F54CD8-E5BE-E0EF-DA66-05E36245D1A5}"/>
              </a:ext>
            </a:extLst>
          </p:cNvPr>
          <p:cNvSpPr/>
          <p:nvPr/>
        </p:nvSpPr>
        <p:spPr>
          <a:xfrm>
            <a:off x="280161" y="1244252"/>
            <a:ext cx="8469204" cy="5613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241093" indent="-241093" defTabSz="279311">
              <a:buFont typeface="Wingdings" panose="05000000000000000000" pitchFamily="2" charset="2"/>
              <a:buChar char="u"/>
              <a:defRPr sz="1800"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/>
                <a:sym typeface="Helvetica"/>
              </a:rPr>
              <a:t>Steps: 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/>
              <a:sym typeface="Helvetica"/>
            </a:endParaRPr>
          </a:p>
          <a:p>
            <a:pPr defTabSz="279311">
              <a:defRPr sz="1800"/>
            </a:pP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  <a:sym typeface="Helvetica"/>
            </a:endParaRPr>
          </a:p>
          <a:p>
            <a:pPr marL="436423" indent="-120546" defTabSz="279311">
              <a:buFont typeface="Arial" panose="020B0604020202020204" pitchFamily="34" charset="0"/>
              <a:buChar char="•"/>
              <a:defRPr sz="1800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  <a:hlinkClick r:id="rId3"/>
              </a:rPr>
              <a:t>下载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  <a:hlinkClick r:id="rId3"/>
              </a:rPr>
              <a:t>cifar-10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  <a:hlinkClick r:id="rId3"/>
              </a:rPr>
              <a:t>数据集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(python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版本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)</a:t>
            </a:r>
          </a:p>
          <a:p>
            <a:pPr marL="436423" indent="-120546" defTabSz="279311">
              <a:buFont typeface="Arial" panose="020B0604020202020204" pitchFamily="34" charset="0"/>
              <a:buChar char="•"/>
              <a:defRPr sz="1800"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  <a:p>
            <a:pPr marL="438656" indent="-122779" defTabSz="279311">
              <a:buFont typeface="Arial" panose="020B0604020202020204" pitchFamily="34" charset="0"/>
              <a:buChar char="•"/>
              <a:defRPr sz="1800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 将下载的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cifar-10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数据集转换为图片格式，并按类别存储对应的图片，存储结构如图</a:t>
            </a:r>
          </a:p>
          <a:p>
            <a:pPr marL="438656" indent="-122779" defTabSz="279311">
              <a:buFont typeface="Arial" panose="020B0604020202020204" pitchFamily="34" charset="0"/>
              <a:buChar char="•"/>
              <a:defRPr sz="1800"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  <a:p>
            <a:pPr marL="438656" indent="-122779" defTabSz="279311">
              <a:buFont typeface="Arial" panose="020B0604020202020204" pitchFamily="34" charset="0"/>
              <a:buChar char="•"/>
              <a:defRPr sz="1800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 配置好基础的深度学习环境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(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  <a:hlinkClick r:id="rId4"/>
              </a:rPr>
              <a:t>教程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)</a:t>
            </a:r>
          </a:p>
          <a:p>
            <a:pPr marL="438656" indent="-122779" defTabSz="279311">
              <a:buFont typeface="Arial" panose="020B0604020202020204" pitchFamily="34" charset="0"/>
              <a:buChar char="•"/>
              <a:defRPr sz="1800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  <a:p>
            <a:pPr marL="438656" indent="-122779" defTabSz="279311">
              <a:buFont typeface="Arial" panose="020B0604020202020204" pitchFamily="34" charset="0"/>
              <a:buChar char="•"/>
              <a:defRPr sz="1800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 在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  <a:hlinkClick r:id="rId5"/>
              </a:rPr>
              <a:t>github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  <a:hlinkClick r:id="rId5"/>
              </a:rPr>
              <a:t>仓库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下载示例代码，阅读代码并将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cifar-10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数据集与代码结合。</a:t>
            </a:r>
          </a:p>
          <a:p>
            <a:pPr marL="438656" indent="-122779" defTabSz="279311">
              <a:buFont typeface="Arial" panose="020B0604020202020204" pitchFamily="34" charset="0"/>
              <a:buChar char="•"/>
              <a:defRPr sz="1800"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  <a:p>
            <a:pPr marL="438656" indent="-122779" defTabSz="279311">
              <a:buFont typeface="Arial" panose="020B0604020202020204" pitchFamily="34" charset="0"/>
              <a:buChar char="•"/>
              <a:defRPr sz="1800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 阅读代码后，调整训练的参数，训练图像生成模型，隔固定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epoch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保存模型。</a:t>
            </a:r>
          </a:p>
          <a:p>
            <a:pPr marL="438656" indent="-122779" defTabSz="279311">
              <a:buFont typeface="Arial" panose="020B0604020202020204" pitchFamily="34" charset="0"/>
              <a:buChar char="•"/>
              <a:defRPr sz="1800"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  <a:p>
            <a:pPr marL="438656" indent="-122779" defTabSz="279311">
              <a:buFont typeface="Arial" panose="020B0604020202020204" pitchFamily="34" charset="0"/>
              <a:buChar char="•"/>
              <a:defRPr sz="1800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 利用训练的模型，通过给予不同的类名，生成不同类别的图像（示例如第三页）。</a:t>
            </a:r>
          </a:p>
          <a:p>
            <a:pPr marL="438656" indent="-122779" defTabSz="279311">
              <a:buFont typeface="Arial" panose="020B0604020202020204" pitchFamily="34" charset="0"/>
              <a:buChar char="•"/>
              <a:defRPr sz="1800"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  <a:p>
            <a:pPr marL="438656" indent="-122779" defTabSz="279311">
              <a:buFont typeface="Arial" panose="020B0604020202020204" pitchFamily="34" charset="0"/>
              <a:buChar char="•"/>
              <a:defRPr sz="1800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 计算生成图像的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FID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分数（与训练集对比）。</a:t>
            </a:r>
          </a:p>
          <a:p>
            <a:pPr marL="438656" indent="-122779" defTabSz="279311">
              <a:buFont typeface="Arial" panose="020B0604020202020204" pitchFamily="34" charset="0"/>
              <a:buChar char="•"/>
              <a:defRPr sz="1800"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5" name="Shape 32">
            <a:extLst>
              <a:ext uri="{FF2B5EF4-FFF2-40B4-BE49-F238E27FC236}">
                <a16:creationId xmlns:a16="http://schemas.microsoft.com/office/drawing/2014/main" id="{9A5BB5D3-BD78-90C4-4FC8-AF6DC8FFCFAB}"/>
              </a:ext>
            </a:extLst>
          </p:cNvPr>
          <p:cNvSpPr txBox="1">
            <a:spLocks/>
          </p:cNvSpPr>
          <p:nvPr/>
        </p:nvSpPr>
        <p:spPr>
          <a:xfrm>
            <a:off x="2557195" y="295763"/>
            <a:ext cx="7358063" cy="94849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1800"/>
            </a:pPr>
            <a:r>
              <a:rPr lang="en-US" sz="3797" b="1" dirty="0">
                <a:latin typeface="Helvetica"/>
                <a:ea typeface="Helvetica"/>
                <a:cs typeface="Helvetica"/>
                <a:sym typeface="Helvetica"/>
              </a:rPr>
              <a:t>Big Assignment </a:t>
            </a:r>
            <a:r>
              <a:rPr lang="en-US" altLang="zh-CN" sz="3094" dirty="0"/>
              <a:t>—</a:t>
            </a:r>
            <a:endParaRPr lang="en-US" sz="3094" b="1" dirty="0">
              <a:latin typeface="Helvetica"/>
              <a:ea typeface="Helvetica"/>
              <a:cs typeface="Helvetica"/>
              <a:sym typeface="Helvetica"/>
            </a:endParaRPr>
          </a:p>
          <a:p>
            <a:pPr>
              <a:defRPr sz="1800"/>
            </a:pPr>
            <a:r>
              <a:rPr lang="en-US" sz="2250" b="1" dirty="0">
                <a:latin typeface="Helvetica"/>
                <a:ea typeface="Helvetica"/>
                <a:cs typeface="Helvetica"/>
                <a:sym typeface="Helvetica"/>
              </a:rPr>
              <a:t>Image Generation(</a:t>
            </a:r>
            <a:r>
              <a:rPr lang="zh-CN" altLang="en-US" sz="2250" b="1" dirty="0">
                <a:latin typeface="Helvetica"/>
                <a:ea typeface="Helvetica"/>
                <a:cs typeface="Helvetica"/>
                <a:sym typeface="Helvetica"/>
              </a:rPr>
              <a:t>图像生成</a:t>
            </a:r>
            <a:r>
              <a:rPr lang="en-US" altLang="zh-CN" sz="2250" b="1" dirty="0">
                <a:latin typeface="Helvetica"/>
                <a:ea typeface="Helvetica"/>
                <a:cs typeface="Helvetica"/>
                <a:sym typeface="Helvetica"/>
              </a:rPr>
              <a:t>)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18D14C1-DCCC-7210-C4B1-37D4C138CE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6394" y="1244253"/>
            <a:ext cx="2576518" cy="2603149"/>
          </a:xfrm>
          <a:prstGeom prst="rect">
            <a:avLst/>
          </a:prstGeom>
        </p:spPr>
      </p:pic>
      <p:sp>
        <p:nvSpPr>
          <p:cNvPr id="2" name="箭头: 右 1">
            <a:extLst>
              <a:ext uri="{FF2B5EF4-FFF2-40B4-BE49-F238E27FC236}">
                <a16:creationId xmlns:a16="http://schemas.microsoft.com/office/drawing/2014/main" id="{FB0D74A2-D6F9-142A-672F-3C2BF8828F82}"/>
              </a:ext>
            </a:extLst>
          </p:cNvPr>
          <p:cNvSpPr/>
          <p:nvPr/>
        </p:nvSpPr>
        <p:spPr>
          <a:xfrm>
            <a:off x="8866394" y="4736235"/>
            <a:ext cx="683491" cy="3140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9143B17-41FB-F881-38E1-31714D26D21B}"/>
              </a:ext>
            </a:extLst>
          </p:cNvPr>
          <p:cNvSpPr txBox="1"/>
          <p:nvPr/>
        </p:nvSpPr>
        <p:spPr>
          <a:xfrm>
            <a:off x="9750530" y="4708587"/>
            <a:ext cx="21613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训练日志：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loss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C0AB639C-75EC-BF5F-0C31-03890FAAAA15}"/>
              </a:ext>
            </a:extLst>
          </p:cNvPr>
          <p:cNvSpPr/>
          <p:nvPr/>
        </p:nvSpPr>
        <p:spPr>
          <a:xfrm>
            <a:off x="8866393" y="5640351"/>
            <a:ext cx="683491" cy="3140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60CF0E3-363C-C8A0-0841-3FE75EA85055}"/>
              </a:ext>
            </a:extLst>
          </p:cNvPr>
          <p:cNvSpPr txBox="1"/>
          <p:nvPr/>
        </p:nvSpPr>
        <p:spPr>
          <a:xfrm>
            <a:off x="9803513" y="5638337"/>
            <a:ext cx="21613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每一类的生成图像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39A93ED2-002A-62BC-E3DC-1561B6B6DAE8}"/>
              </a:ext>
            </a:extLst>
          </p:cNvPr>
          <p:cNvSpPr/>
          <p:nvPr/>
        </p:nvSpPr>
        <p:spPr>
          <a:xfrm>
            <a:off x="5941185" y="6562237"/>
            <a:ext cx="683491" cy="3140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6F26CE9-88F2-FFC1-6456-8D0BD79DEC59}"/>
              </a:ext>
            </a:extLst>
          </p:cNvPr>
          <p:cNvSpPr txBox="1"/>
          <p:nvPr/>
        </p:nvSpPr>
        <p:spPr>
          <a:xfrm>
            <a:off x="7114027" y="6477174"/>
            <a:ext cx="21613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FID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分数表格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3750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33">
            <a:extLst>
              <a:ext uri="{FF2B5EF4-FFF2-40B4-BE49-F238E27FC236}">
                <a16:creationId xmlns:a16="http://schemas.microsoft.com/office/drawing/2014/main" id="{85E8ED8D-3489-2C6F-81B4-5EAFE216D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19921" y="1524897"/>
            <a:ext cx="7832612" cy="56378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41093" indent="-241093" algn="l" defTabSz="394320">
              <a:buFont typeface="Wingdings" panose="05000000000000000000" pitchFamily="2" charset="2"/>
              <a:buChar char="u"/>
              <a:defRPr sz="1800"/>
            </a:pPr>
            <a:r>
              <a:rPr lang="en-US" altLang="zh-CN" sz="2531" b="1" dirty="0">
                <a:latin typeface="微软雅黑" panose="020B0503020204020204" pitchFamily="34" charset="-122"/>
                <a:ea typeface="微软雅黑" panose="020B0503020204020204" pitchFamily="34" charset="-122"/>
                <a:cs typeface="Helvetica"/>
                <a:sym typeface="Helvetica"/>
              </a:rPr>
              <a:t>Examples</a:t>
            </a:r>
            <a:r>
              <a:rPr lang="zh-CN" altLang="en-US" sz="2531" b="1" dirty="0">
                <a:latin typeface="微软雅黑" panose="020B0503020204020204" pitchFamily="34" charset="-122"/>
                <a:ea typeface="微软雅黑" panose="020B0503020204020204" pitchFamily="34" charset="-122"/>
                <a:cs typeface="Helvetica"/>
                <a:sym typeface="Helvetica"/>
              </a:rPr>
              <a:t>（</a:t>
            </a:r>
            <a:r>
              <a:rPr lang="en-US" altLang="zh-CN" sz="2531" b="1" dirty="0">
                <a:latin typeface="微软雅黑" panose="020B0503020204020204" pitchFamily="34" charset="-122"/>
                <a:ea typeface="微软雅黑" panose="020B0503020204020204" pitchFamily="34" charset="-122"/>
                <a:cs typeface="Helvetica"/>
                <a:sym typeface="Helvetica"/>
              </a:rPr>
              <a:t>cifar-10 dataset</a:t>
            </a:r>
            <a:r>
              <a:rPr lang="zh-CN" altLang="en-US" sz="2531" b="1" dirty="0">
                <a:latin typeface="微软雅黑" panose="020B0503020204020204" pitchFamily="34" charset="-122"/>
                <a:ea typeface="微软雅黑" panose="020B0503020204020204" pitchFamily="34" charset="-122"/>
                <a:cs typeface="Helvetica"/>
                <a:sym typeface="Helvetica"/>
              </a:rPr>
              <a:t>）</a:t>
            </a:r>
            <a:r>
              <a:rPr sz="2531" b="1" dirty="0">
                <a:latin typeface="微软雅黑" panose="020B0503020204020204" pitchFamily="34" charset="-122"/>
                <a:ea typeface="微软雅黑" panose="020B0503020204020204" pitchFamily="34" charset="-122"/>
                <a:cs typeface="Helvetica"/>
                <a:sym typeface="Helvetica"/>
              </a:rPr>
              <a:t>：</a:t>
            </a:r>
            <a:endParaRPr lang="en-US" sz="2531" b="1" dirty="0">
              <a:latin typeface="微软雅黑" panose="020B0503020204020204" pitchFamily="34" charset="-122"/>
              <a:ea typeface="微软雅黑" panose="020B0503020204020204" pitchFamily="34" charset="-122"/>
              <a:cs typeface="Helvetica"/>
              <a:sym typeface="Helvetica"/>
            </a:endParaRPr>
          </a:p>
        </p:txBody>
      </p:sp>
      <p:sp>
        <p:nvSpPr>
          <p:cNvPr id="5" name="Shape 32">
            <a:extLst>
              <a:ext uri="{FF2B5EF4-FFF2-40B4-BE49-F238E27FC236}">
                <a16:creationId xmlns:a16="http://schemas.microsoft.com/office/drawing/2014/main" id="{AFD3321D-A72A-A954-E596-EA2CC1B49600}"/>
              </a:ext>
            </a:extLst>
          </p:cNvPr>
          <p:cNvSpPr txBox="1">
            <a:spLocks/>
          </p:cNvSpPr>
          <p:nvPr/>
        </p:nvSpPr>
        <p:spPr>
          <a:xfrm>
            <a:off x="2557195" y="295763"/>
            <a:ext cx="7358063" cy="94849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1800"/>
            </a:pPr>
            <a:r>
              <a:rPr lang="en-US" sz="3797" b="1" dirty="0">
                <a:latin typeface="Helvetica"/>
                <a:ea typeface="Helvetica"/>
                <a:cs typeface="Helvetica"/>
                <a:sym typeface="Helvetica"/>
              </a:rPr>
              <a:t>Big Assignment </a:t>
            </a:r>
            <a:r>
              <a:rPr lang="en-US" altLang="zh-CN" sz="3094" dirty="0"/>
              <a:t>—</a:t>
            </a:r>
            <a:endParaRPr lang="en-US" sz="3094" b="1" dirty="0">
              <a:latin typeface="Helvetica"/>
              <a:ea typeface="Helvetica"/>
              <a:cs typeface="Helvetica"/>
              <a:sym typeface="Helvetica"/>
            </a:endParaRPr>
          </a:p>
          <a:p>
            <a:pPr>
              <a:defRPr sz="1800"/>
            </a:pPr>
            <a:r>
              <a:rPr lang="en-US" sz="2250" b="1" dirty="0">
                <a:latin typeface="Helvetica"/>
                <a:ea typeface="Helvetica"/>
                <a:cs typeface="Helvetica"/>
                <a:sym typeface="Helvetica"/>
              </a:rPr>
              <a:t>Image Generation(</a:t>
            </a:r>
            <a:r>
              <a:rPr lang="zh-CN" altLang="en-US" sz="2250" b="1" dirty="0">
                <a:latin typeface="Helvetica"/>
                <a:ea typeface="Helvetica"/>
                <a:cs typeface="Helvetica"/>
                <a:sym typeface="Helvetica"/>
              </a:rPr>
              <a:t>图像生成</a:t>
            </a:r>
            <a:r>
              <a:rPr lang="en-US" altLang="zh-CN" sz="2250" b="1" dirty="0">
                <a:latin typeface="Helvetica"/>
                <a:ea typeface="Helvetica"/>
                <a:cs typeface="Helvetica"/>
                <a:sym typeface="Helvetica"/>
              </a:rPr>
              <a:t>)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4545B98-0CD5-1B12-0125-741FBE775A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3892" y="2624395"/>
            <a:ext cx="6123938" cy="80460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522E762-D8CE-4C6A-961C-9D0D917CFD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3892" y="3878382"/>
            <a:ext cx="6123938" cy="80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79450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>
            <a:spLocks noGrp="1"/>
          </p:cNvSpPr>
          <p:nvPr>
            <p:ph type="body" idx="1"/>
          </p:nvPr>
        </p:nvSpPr>
        <p:spPr>
          <a:xfrm>
            <a:off x="2319921" y="1524897"/>
            <a:ext cx="7832612" cy="497726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41093" indent="-241093" algn="l" defTabSz="394320">
              <a:buFont typeface="Wingdings" panose="05000000000000000000" pitchFamily="2" charset="2"/>
              <a:buChar char="u"/>
              <a:defRPr sz="1800"/>
            </a:pPr>
            <a:r>
              <a:rPr sz="2531" b="1" dirty="0">
                <a:latin typeface="微软雅黑" panose="020B0503020204020204" pitchFamily="34" charset="-122"/>
                <a:ea typeface="微软雅黑" panose="020B0503020204020204" pitchFamily="34" charset="-122"/>
                <a:cs typeface="Helvetica"/>
                <a:sym typeface="Helvetica"/>
              </a:rPr>
              <a:t>References：</a:t>
            </a:r>
            <a:endParaRPr lang="en-US" sz="2531" b="1" dirty="0">
              <a:latin typeface="微软雅黑" panose="020B0503020204020204" pitchFamily="34" charset="-122"/>
              <a:ea typeface="微软雅黑" panose="020B0503020204020204" pitchFamily="34" charset="-122"/>
              <a:cs typeface="Helvetica"/>
              <a:sym typeface="Helvetica"/>
            </a:endParaRPr>
          </a:p>
          <a:p>
            <a:pPr marL="241093" indent="-241093" algn="l" defTabSz="394320">
              <a:buFont typeface="Wingdings" panose="05000000000000000000" pitchFamily="2" charset="2"/>
              <a:buChar char="u"/>
              <a:defRPr sz="1800"/>
            </a:pPr>
            <a:endParaRPr lang="zh-CN" altLang="en-US" sz="1969" b="1" dirty="0">
              <a:latin typeface="Helvetica"/>
              <a:ea typeface="Helvetica"/>
              <a:cs typeface="Helvetica"/>
              <a:sym typeface="Helvetica"/>
            </a:endParaRPr>
          </a:p>
          <a:p>
            <a:pPr marL="508974" indent="-241093" algn="l" defTabSz="308598">
              <a:buFont typeface="Arial" panose="020B0604020202020204" pitchFamily="34" charset="0"/>
              <a:buChar char="•"/>
              <a:defRPr sz="1800"/>
            </a:pP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Goodfellow I, </a:t>
            </a:r>
            <a:r>
              <a:rPr lang="en-US" altLang="zh-CN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Pouget</a:t>
            </a: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-Abadie J, Mirza M, et al. Generative adversarial networks[J]. Communications of the ACM, 2020, 63(11): 139-144.</a:t>
            </a:r>
          </a:p>
          <a:p>
            <a:pPr marL="508974" indent="-241093" algn="l" defTabSz="308598">
              <a:buFont typeface="Arial" panose="020B0604020202020204" pitchFamily="34" charset="0"/>
              <a:buChar char="•"/>
              <a:defRPr sz="1800"/>
            </a:pPr>
            <a:endParaRPr lang="en-US" altLang="zh-CN" sz="16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marL="508974" indent="-241093" algn="l" defTabSz="308598">
              <a:buFont typeface="Arial" panose="020B0604020202020204" pitchFamily="34" charset="0"/>
              <a:buChar char="•"/>
              <a:defRPr sz="1800"/>
            </a:pP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Radford A. Unsupervised representation learning with deep convolutional generative adversarial networks[J]. </a:t>
            </a:r>
            <a:r>
              <a:rPr lang="en-US" altLang="zh-CN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preprint arXiv:1511.06434, 2015.</a:t>
            </a:r>
          </a:p>
          <a:p>
            <a:pPr marL="508974" indent="-241093" algn="l" defTabSz="308598">
              <a:buFont typeface="Arial" panose="020B0604020202020204" pitchFamily="34" charset="0"/>
              <a:buChar char="•"/>
              <a:defRPr sz="1800"/>
            </a:pPr>
            <a:endParaRPr lang="en-US" altLang="zh-CN" sz="16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508974" indent="-241093" algn="l" defTabSz="308598">
              <a:buFont typeface="Arial" panose="020B0604020202020204" pitchFamily="34" charset="0"/>
              <a:buChar char="•"/>
              <a:defRPr sz="1800"/>
            </a:pP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Ho J, Jain A, </a:t>
            </a:r>
            <a:r>
              <a:rPr lang="en-US" altLang="zh-CN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Abbeel</a:t>
            </a: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P. Denoising diffusion probabilistic models[J]. Advances in neural information processing systems, 2020, 33: 6840-6851.</a:t>
            </a:r>
          </a:p>
          <a:p>
            <a:pPr marL="508974" indent="-241093" algn="l" defTabSz="308598">
              <a:buFont typeface="Arial" panose="020B0604020202020204" pitchFamily="34" charset="0"/>
              <a:buChar char="•"/>
              <a:defRPr sz="1800"/>
            </a:pPr>
            <a:endParaRPr lang="en-US" altLang="zh-CN" sz="16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marL="508974" indent="-241093" algn="l" defTabSz="308598">
              <a:buFont typeface="Arial" panose="020B0604020202020204" pitchFamily="34" charset="0"/>
              <a:buChar char="•"/>
              <a:defRPr sz="1800"/>
            </a:pP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Song J, Meng C, </a:t>
            </a:r>
            <a:r>
              <a:rPr lang="en-US" altLang="zh-CN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Ermon</a:t>
            </a: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S. Denoising diffusion implicit models[J]. </a:t>
            </a:r>
            <a:r>
              <a:rPr lang="en-US" altLang="zh-CN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preprint arXiv:2010.02502, 2020.</a:t>
            </a:r>
          </a:p>
          <a:p>
            <a:pPr marL="508974" indent="-241093" algn="l" defTabSz="308598">
              <a:buFont typeface="Arial" panose="020B0604020202020204" pitchFamily="34" charset="0"/>
              <a:buChar char="•"/>
              <a:defRPr sz="1800"/>
            </a:pPr>
            <a:endParaRPr lang="en-US" altLang="zh-CN" sz="16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marL="508974" indent="-241093" algn="l" defTabSz="308598">
              <a:buFont typeface="Arial" panose="020B0604020202020204" pitchFamily="34" charset="0"/>
              <a:buChar char="•"/>
              <a:defRPr sz="1800"/>
            </a:pPr>
            <a:r>
              <a:rPr lang="en-US" altLang="zh-CN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Heusel</a:t>
            </a: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M, </a:t>
            </a:r>
            <a:r>
              <a:rPr lang="en-US" altLang="zh-CN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Ramsauer</a:t>
            </a: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H, </a:t>
            </a:r>
            <a:r>
              <a:rPr lang="en-US" altLang="zh-CN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Unterthiner</a:t>
            </a: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T, et al. Gans trained by a two time-scale update rule converge to a local </a:t>
            </a:r>
            <a:r>
              <a:rPr lang="en-US" altLang="zh-CN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nash</a:t>
            </a: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equilibrium[J]. Advances in neural information processing systems, 2017, 30.</a:t>
            </a:r>
            <a:endParaRPr lang="en-US" sz="1687" dirty="0">
              <a:solidFill>
                <a:srgbClr val="23232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/>
              <a:sym typeface="Arial"/>
            </a:endParaRPr>
          </a:p>
        </p:txBody>
      </p:sp>
      <p:sp>
        <p:nvSpPr>
          <p:cNvPr id="4" name="Shape 32">
            <a:extLst>
              <a:ext uri="{FF2B5EF4-FFF2-40B4-BE49-F238E27FC236}">
                <a16:creationId xmlns:a16="http://schemas.microsoft.com/office/drawing/2014/main" id="{FA1FA739-9940-4584-801E-6BFDBA489B36}"/>
              </a:ext>
            </a:extLst>
          </p:cNvPr>
          <p:cNvSpPr txBox="1">
            <a:spLocks/>
          </p:cNvSpPr>
          <p:nvPr/>
        </p:nvSpPr>
        <p:spPr>
          <a:xfrm>
            <a:off x="2557195" y="295763"/>
            <a:ext cx="7358063" cy="94849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1800"/>
            </a:pPr>
            <a:r>
              <a:rPr lang="en-US" sz="3797" b="1" dirty="0">
                <a:latin typeface="Helvetica"/>
                <a:ea typeface="Helvetica"/>
                <a:cs typeface="Helvetica"/>
                <a:sym typeface="Helvetica"/>
              </a:rPr>
              <a:t>Big Assignment </a:t>
            </a:r>
            <a:r>
              <a:rPr lang="en-US" altLang="zh-CN" sz="3094" dirty="0"/>
              <a:t>—</a:t>
            </a:r>
            <a:endParaRPr lang="en-US" sz="3094" b="1" dirty="0">
              <a:latin typeface="Helvetica"/>
              <a:ea typeface="Helvetica"/>
              <a:cs typeface="Helvetica"/>
              <a:sym typeface="Helvetica"/>
            </a:endParaRPr>
          </a:p>
          <a:p>
            <a:pPr>
              <a:defRPr sz="1800"/>
            </a:pPr>
            <a:r>
              <a:rPr lang="en-US" sz="2250" b="1" dirty="0">
                <a:latin typeface="Helvetica"/>
                <a:ea typeface="Helvetica"/>
                <a:cs typeface="Helvetica"/>
                <a:sym typeface="Helvetica"/>
              </a:rPr>
              <a:t>Image Generation(</a:t>
            </a:r>
            <a:r>
              <a:rPr lang="zh-CN" altLang="en-US" sz="2250" b="1" dirty="0">
                <a:latin typeface="Helvetica"/>
                <a:ea typeface="Helvetica"/>
                <a:cs typeface="Helvetica"/>
                <a:sym typeface="Helvetica"/>
              </a:rPr>
              <a:t>图像生成</a:t>
            </a:r>
            <a:r>
              <a:rPr lang="en-US" altLang="zh-CN" sz="2250" b="1" dirty="0">
                <a:latin typeface="Helvetica"/>
                <a:ea typeface="Helvetica"/>
                <a:cs typeface="Helvetica"/>
                <a:sym typeface="Helvetic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5244622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424</Words>
  <Application>Microsoft Office PowerPoint</Application>
  <PresentationFormat>宽屏</PresentationFormat>
  <Paragraphs>55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Helvetica</vt:lpstr>
      <vt:lpstr>等线</vt:lpstr>
      <vt:lpstr>等线 Light</vt:lpstr>
      <vt:lpstr>微软雅黑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志坚 徐</dc:creator>
  <cp:lastModifiedBy>立琦 黄</cp:lastModifiedBy>
  <cp:revision>61</cp:revision>
  <dcterms:created xsi:type="dcterms:W3CDTF">2025-02-14T06:53:04Z</dcterms:created>
  <dcterms:modified xsi:type="dcterms:W3CDTF">2026-02-26T03:46:33Z</dcterms:modified>
</cp:coreProperties>
</file>